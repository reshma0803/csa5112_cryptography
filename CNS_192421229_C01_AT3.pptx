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59" r:id="rId3"/>
    <p:sldId id="260" r:id="rId4"/>
    <p:sldId id="261" r:id="rId5"/>
    <p:sldId id="262" r:id="rId6"/>
    <p:sldId id="263" r:id="rId7"/>
    <p:sldId id="264"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75FF3-3508-08A8-5FCA-A233E7E786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92522A4-A100-5446-8D70-908B0F08A8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9443F46-7159-D5CF-F892-C02A9444A253}"/>
              </a:ext>
            </a:extLst>
          </p:cNvPr>
          <p:cNvSpPr>
            <a:spLocks noGrp="1"/>
          </p:cNvSpPr>
          <p:nvPr>
            <p:ph type="dt" sz="half" idx="10"/>
          </p:nvPr>
        </p:nvSpPr>
        <p:spPr/>
        <p:txBody>
          <a:bodyPr/>
          <a:lstStyle/>
          <a:p>
            <a:fld id="{23184406-2F7D-43AA-AC80-89540E63E66A}" type="datetimeFigureOut">
              <a:rPr lang="en-IN" smtClean="0"/>
              <a:t>12-10-2026</a:t>
            </a:fld>
            <a:endParaRPr lang="en-IN"/>
          </a:p>
        </p:txBody>
      </p:sp>
      <p:sp>
        <p:nvSpPr>
          <p:cNvPr id="5" name="Footer Placeholder 4">
            <a:extLst>
              <a:ext uri="{FF2B5EF4-FFF2-40B4-BE49-F238E27FC236}">
                <a16:creationId xmlns:a16="http://schemas.microsoft.com/office/drawing/2014/main" id="{BAF87F70-4593-64F2-4854-360B3D290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0592EB-AD9F-5086-13FA-C83C36BCA865}"/>
              </a:ext>
            </a:extLst>
          </p:cNvPr>
          <p:cNvSpPr>
            <a:spLocks noGrp="1"/>
          </p:cNvSpPr>
          <p:nvPr>
            <p:ph type="sldNum" sz="quarter" idx="12"/>
          </p:nvPr>
        </p:nvSpPr>
        <p:spPr/>
        <p:txBody>
          <a:bodyPr/>
          <a:lstStyle/>
          <a:p>
            <a:fld id="{BFFA6185-43C8-4774-884C-9D6B974CCEAE}" type="slidenum">
              <a:rPr lang="en-IN" smtClean="0"/>
              <a:t>‹#›</a:t>
            </a:fld>
            <a:endParaRPr lang="en-IN"/>
          </a:p>
        </p:txBody>
      </p:sp>
    </p:spTree>
    <p:extLst>
      <p:ext uri="{BB962C8B-B14F-4D97-AF65-F5344CB8AC3E}">
        <p14:creationId xmlns:p14="http://schemas.microsoft.com/office/powerpoint/2010/main" val="2949824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9EB0B-5AB5-0A03-68EF-D916E98E924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1F68931-F1EF-3E3B-DDA9-A97A1B3035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F9BD2A-5032-C288-7001-EE59E8D50B20}"/>
              </a:ext>
            </a:extLst>
          </p:cNvPr>
          <p:cNvSpPr>
            <a:spLocks noGrp="1"/>
          </p:cNvSpPr>
          <p:nvPr>
            <p:ph type="dt" sz="half" idx="10"/>
          </p:nvPr>
        </p:nvSpPr>
        <p:spPr/>
        <p:txBody>
          <a:bodyPr/>
          <a:lstStyle/>
          <a:p>
            <a:fld id="{23184406-2F7D-43AA-AC80-89540E63E66A}" type="datetimeFigureOut">
              <a:rPr lang="en-IN" smtClean="0"/>
              <a:t>12-10-2026</a:t>
            </a:fld>
            <a:endParaRPr lang="en-IN"/>
          </a:p>
        </p:txBody>
      </p:sp>
      <p:sp>
        <p:nvSpPr>
          <p:cNvPr id="5" name="Footer Placeholder 4">
            <a:extLst>
              <a:ext uri="{FF2B5EF4-FFF2-40B4-BE49-F238E27FC236}">
                <a16:creationId xmlns:a16="http://schemas.microsoft.com/office/drawing/2014/main" id="{1D36B30A-8F40-808D-945B-B8BE71EB12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F29F47-823F-EE3C-5ABB-E77E27551203}"/>
              </a:ext>
            </a:extLst>
          </p:cNvPr>
          <p:cNvSpPr>
            <a:spLocks noGrp="1"/>
          </p:cNvSpPr>
          <p:nvPr>
            <p:ph type="sldNum" sz="quarter" idx="12"/>
          </p:nvPr>
        </p:nvSpPr>
        <p:spPr/>
        <p:txBody>
          <a:bodyPr/>
          <a:lstStyle/>
          <a:p>
            <a:fld id="{BFFA6185-43C8-4774-884C-9D6B974CCEAE}" type="slidenum">
              <a:rPr lang="en-IN" smtClean="0"/>
              <a:t>‹#›</a:t>
            </a:fld>
            <a:endParaRPr lang="en-IN"/>
          </a:p>
        </p:txBody>
      </p:sp>
    </p:spTree>
    <p:extLst>
      <p:ext uri="{BB962C8B-B14F-4D97-AF65-F5344CB8AC3E}">
        <p14:creationId xmlns:p14="http://schemas.microsoft.com/office/powerpoint/2010/main" val="29256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C2B77-3955-ECB0-DA92-4F7BAD87A8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E663208-D0F6-E59B-01EC-6FDE0E2D16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F9503F-D0F5-CEE4-BA46-F0802FA329CB}"/>
              </a:ext>
            </a:extLst>
          </p:cNvPr>
          <p:cNvSpPr>
            <a:spLocks noGrp="1"/>
          </p:cNvSpPr>
          <p:nvPr>
            <p:ph type="dt" sz="half" idx="10"/>
          </p:nvPr>
        </p:nvSpPr>
        <p:spPr/>
        <p:txBody>
          <a:bodyPr/>
          <a:lstStyle/>
          <a:p>
            <a:fld id="{23184406-2F7D-43AA-AC80-89540E63E66A}" type="datetimeFigureOut">
              <a:rPr lang="en-IN" smtClean="0"/>
              <a:t>12-10-2026</a:t>
            </a:fld>
            <a:endParaRPr lang="en-IN"/>
          </a:p>
        </p:txBody>
      </p:sp>
      <p:sp>
        <p:nvSpPr>
          <p:cNvPr id="5" name="Footer Placeholder 4">
            <a:extLst>
              <a:ext uri="{FF2B5EF4-FFF2-40B4-BE49-F238E27FC236}">
                <a16:creationId xmlns:a16="http://schemas.microsoft.com/office/drawing/2014/main" id="{548629DE-EFAB-1406-6A3D-5054F67B44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9C5CDB-1233-2FBF-9534-6394348EC3C3}"/>
              </a:ext>
            </a:extLst>
          </p:cNvPr>
          <p:cNvSpPr>
            <a:spLocks noGrp="1"/>
          </p:cNvSpPr>
          <p:nvPr>
            <p:ph type="sldNum" sz="quarter" idx="12"/>
          </p:nvPr>
        </p:nvSpPr>
        <p:spPr/>
        <p:txBody>
          <a:bodyPr/>
          <a:lstStyle/>
          <a:p>
            <a:fld id="{BFFA6185-43C8-4774-884C-9D6B974CCEAE}" type="slidenum">
              <a:rPr lang="en-IN" smtClean="0"/>
              <a:t>‹#›</a:t>
            </a:fld>
            <a:endParaRPr lang="en-IN"/>
          </a:p>
        </p:txBody>
      </p:sp>
    </p:spTree>
    <p:extLst>
      <p:ext uri="{BB962C8B-B14F-4D97-AF65-F5344CB8AC3E}">
        <p14:creationId xmlns:p14="http://schemas.microsoft.com/office/powerpoint/2010/main" val="3781672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31DA5-994D-D2E5-69AD-9974CE7057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E7D9D4-D522-4357-8E0A-3BD2867A78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0DBFC6A-59B1-9DE4-1788-AE38A510F2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C2380B0-BFB8-6A34-4F39-32FD943AED5C}"/>
              </a:ext>
            </a:extLst>
          </p:cNvPr>
          <p:cNvSpPr>
            <a:spLocks noGrp="1"/>
          </p:cNvSpPr>
          <p:nvPr>
            <p:ph type="dt" sz="half" idx="10"/>
          </p:nvPr>
        </p:nvSpPr>
        <p:spPr/>
        <p:txBody>
          <a:bodyPr/>
          <a:lstStyle/>
          <a:p>
            <a:fld id="{23184406-2F7D-43AA-AC80-89540E63E66A}" type="datetimeFigureOut">
              <a:rPr lang="en-IN" smtClean="0"/>
              <a:t>12-10-2026</a:t>
            </a:fld>
            <a:endParaRPr lang="en-IN"/>
          </a:p>
        </p:txBody>
      </p:sp>
      <p:sp>
        <p:nvSpPr>
          <p:cNvPr id="6" name="Footer Placeholder 5">
            <a:extLst>
              <a:ext uri="{FF2B5EF4-FFF2-40B4-BE49-F238E27FC236}">
                <a16:creationId xmlns:a16="http://schemas.microsoft.com/office/drawing/2014/main" id="{108F8575-6672-8A72-1581-6575195887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5E8C90-BBC5-981C-1877-376BE94716B2}"/>
              </a:ext>
            </a:extLst>
          </p:cNvPr>
          <p:cNvSpPr>
            <a:spLocks noGrp="1"/>
          </p:cNvSpPr>
          <p:nvPr>
            <p:ph type="sldNum" sz="quarter" idx="12"/>
          </p:nvPr>
        </p:nvSpPr>
        <p:spPr/>
        <p:txBody>
          <a:bodyPr/>
          <a:lstStyle/>
          <a:p>
            <a:fld id="{BFFA6185-43C8-4774-884C-9D6B974CCEAE}" type="slidenum">
              <a:rPr lang="en-IN" smtClean="0"/>
              <a:t>‹#›</a:t>
            </a:fld>
            <a:endParaRPr lang="en-IN"/>
          </a:p>
        </p:txBody>
      </p:sp>
    </p:spTree>
    <p:extLst>
      <p:ext uri="{BB962C8B-B14F-4D97-AF65-F5344CB8AC3E}">
        <p14:creationId xmlns:p14="http://schemas.microsoft.com/office/powerpoint/2010/main" val="3374977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A0FB-DBC9-13BC-3078-576F8599D95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2123E0-013D-EFE0-CDB8-DA1E4B1809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DACC07-EA45-4972-F9DD-637B03B24B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085B498-FF41-E034-D956-18C531A7A1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30202E-72A4-F704-C68D-0E048FF242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ED2A442-A48F-1D34-E8DB-B039B32125F5}"/>
              </a:ext>
            </a:extLst>
          </p:cNvPr>
          <p:cNvSpPr>
            <a:spLocks noGrp="1"/>
          </p:cNvSpPr>
          <p:nvPr>
            <p:ph type="dt" sz="half" idx="10"/>
          </p:nvPr>
        </p:nvSpPr>
        <p:spPr/>
        <p:txBody>
          <a:bodyPr/>
          <a:lstStyle/>
          <a:p>
            <a:fld id="{23184406-2F7D-43AA-AC80-89540E63E66A}" type="datetimeFigureOut">
              <a:rPr lang="en-IN" smtClean="0"/>
              <a:t>12-10-2026</a:t>
            </a:fld>
            <a:endParaRPr lang="en-IN"/>
          </a:p>
        </p:txBody>
      </p:sp>
      <p:sp>
        <p:nvSpPr>
          <p:cNvPr id="8" name="Footer Placeholder 7">
            <a:extLst>
              <a:ext uri="{FF2B5EF4-FFF2-40B4-BE49-F238E27FC236}">
                <a16:creationId xmlns:a16="http://schemas.microsoft.com/office/drawing/2014/main" id="{9F29FEE0-E7CA-8E04-6E2C-68F8D0AF55C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CFD025F-C51B-DFD0-18F6-D14B89BCF0F1}"/>
              </a:ext>
            </a:extLst>
          </p:cNvPr>
          <p:cNvSpPr>
            <a:spLocks noGrp="1"/>
          </p:cNvSpPr>
          <p:nvPr>
            <p:ph type="sldNum" sz="quarter" idx="12"/>
          </p:nvPr>
        </p:nvSpPr>
        <p:spPr/>
        <p:txBody>
          <a:bodyPr/>
          <a:lstStyle/>
          <a:p>
            <a:fld id="{BFFA6185-43C8-4774-884C-9D6B974CCEAE}" type="slidenum">
              <a:rPr lang="en-IN" smtClean="0"/>
              <a:t>‹#›</a:t>
            </a:fld>
            <a:endParaRPr lang="en-IN"/>
          </a:p>
        </p:txBody>
      </p:sp>
    </p:spTree>
    <p:extLst>
      <p:ext uri="{BB962C8B-B14F-4D97-AF65-F5344CB8AC3E}">
        <p14:creationId xmlns:p14="http://schemas.microsoft.com/office/powerpoint/2010/main" val="3905128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B608E-884F-C4C1-FE12-DF1FA3373F1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48BC769-1A95-A5D3-A25E-151426F71A07}"/>
              </a:ext>
            </a:extLst>
          </p:cNvPr>
          <p:cNvSpPr>
            <a:spLocks noGrp="1"/>
          </p:cNvSpPr>
          <p:nvPr>
            <p:ph type="dt" sz="half" idx="10"/>
          </p:nvPr>
        </p:nvSpPr>
        <p:spPr/>
        <p:txBody>
          <a:bodyPr/>
          <a:lstStyle/>
          <a:p>
            <a:fld id="{23184406-2F7D-43AA-AC80-89540E63E66A}" type="datetimeFigureOut">
              <a:rPr lang="en-IN" smtClean="0"/>
              <a:t>12-10-2026</a:t>
            </a:fld>
            <a:endParaRPr lang="en-IN"/>
          </a:p>
        </p:txBody>
      </p:sp>
      <p:sp>
        <p:nvSpPr>
          <p:cNvPr id="4" name="Footer Placeholder 3">
            <a:extLst>
              <a:ext uri="{FF2B5EF4-FFF2-40B4-BE49-F238E27FC236}">
                <a16:creationId xmlns:a16="http://schemas.microsoft.com/office/drawing/2014/main" id="{896950DE-AA39-114C-BD2D-BCEAE7449FE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94807FF-5828-72C1-3F08-F164F7960430}"/>
              </a:ext>
            </a:extLst>
          </p:cNvPr>
          <p:cNvSpPr>
            <a:spLocks noGrp="1"/>
          </p:cNvSpPr>
          <p:nvPr>
            <p:ph type="sldNum" sz="quarter" idx="12"/>
          </p:nvPr>
        </p:nvSpPr>
        <p:spPr/>
        <p:txBody>
          <a:bodyPr/>
          <a:lstStyle/>
          <a:p>
            <a:fld id="{BFFA6185-43C8-4774-884C-9D6B974CCEAE}" type="slidenum">
              <a:rPr lang="en-IN" smtClean="0"/>
              <a:t>‹#›</a:t>
            </a:fld>
            <a:endParaRPr lang="en-IN"/>
          </a:p>
        </p:txBody>
      </p:sp>
    </p:spTree>
    <p:extLst>
      <p:ext uri="{BB962C8B-B14F-4D97-AF65-F5344CB8AC3E}">
        <p14:creationId xmlns:p14="http://schemas.microsoft.com/office/powerpoint/2010/main" val="4247390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BD6CC5-89C1-4E8A-803D-5C6F783FEA54}"/>
              </a:ext>
            </a:extLst>
          </p:cNvPr>
          <p:cNvSpPr>
            <a:spLocks noGrp="1"/>
          </p:cNvSpPr>
          <p:nvPr>
            <p:ph type="dt" sz="half" idx="10"/>
          </p:nvPr>
        </p:nvSpPr>
        <p:spPr/>
        <p:txBody>
          <a:bodyPr/>
          <a:lstStyle/>
          <a:p>
            <a:fld id="{23184406-2F7D-43AA-AC80-89540E63E66A}" type="datetimeFigureOut">
              <a:rPr lang="en-IN" smtClean="0"/>
              <a:t>12-10-2026</a:t>
            </a:fld>
            <a:endParaRPr lang="en-IN"/>
          </a:p>
        </p:txBody>
      </p:sp>
      <p:sp>
        <p:nvSpPr>
          <p:cNvPr id="3" name="Footer Placeholder 2">
            <a:extLst>
              <a:ext uri="{FF2B5EF4-FFF2-40B4-BE49-F238E27FC236}">
                <a16:creationId xmlns:a16="http://schemas.microsoft.com/office/drawing/2014/main" id="{7773BF79-9523-C706-64C0-3B786D0999C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D1BF335-D255-6A52-7CE2-6CA0FA378975}"/>
              </a:ext>
            </a:extLst>
          </p:cNvPr>
          <p:cNvSpPr>
            <a:spLocks noGrp="1"/>
          </p:cNvSpPr>
          <p:nvPr>
            <p:ph type="sldNum" sz="quarter" idx="12"/>
          </p:nvPr>
        </p:nvSpPr>
        <p:spPr/>
        <p:txBody>
          <a:bodyPr/>
          <a:lstStyle/>
          <a:p>
            <a:fld id="{BFFA6185-43C8-4774-884C-9D6B974CCEAE}" type="slidenum">
              <a:rPr lang="en-IN" smtClean="0"/>
              <a:t>‹#›</a:t>
            </a:fld>
            <a:endParaRPr lang="en-IN"/>
          </a:p>
        </p:txBody>
      </p:sp>
    </p:spTree>
    <p:extLst>
      <p:ext uri="{BB962C8B-B14F-4D97-AF65-F5344CB8AC3E}">
        <p14:creationId xmlns:p14="http://schemas.microsoft.com/office/powerpoint/2010/main" val="390224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33F1F-9A9C-E4E1-3ED3-3B63ABCFE2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EB8E579-6426-9FAE-EA2C-A7D79706B7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54E1619-8AC6-DE83-9236-1FE4FCBC2D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2C62E7-C507-C75F-112B-190152C1B7B5}"/>
              </a:ext>
            </a:extLst>
          </p:cNvPr>
          <p:cNvSpPr>
            <a:spLocks noGrp="1"/>
          </p:cNvSpPr>
          <p:nvPr>
            <p:ph type="dt" sz="half" idx="10"/>
          </p:nvPr>
        </p:nvSpPr>
        <p:spPr/>
        <p:txBody>
          <a:bodyPr/>
          <a:lstStyle/>
          <a:p>
            <a:fld id="{23184406-2F7D-43AA-AC80-89540E63E66A}" type="datetimeFigureOut">
              <a:rPr lang="en-IN" smtClean="0"/>
              <a:t>12-10-2026</a:t>
            </a:fld>
            <a:endParaRPr lang="en-IN"/>
          </a:p>
        </p:txBody>
      </p:sp>
      <p:sp>
        <p:nvSpPr>
          <p:cNvPr id="6" name="Footer Placeholder 5">
            <a:extLst>
              <a:ext uri="{FF2B5EF4-FFF2-40B4-BE49-F238E27FC236}">
                <a16:creationId xmlns:a16="http://schemas.microsoft.com/office/drawing/2014/main" id="{4AE9DB3C-63FF-DB42-5D28-C36548BC08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3264B5-EF4E-F138-D27D-FE082A977485}"/>
              </a:ext>
            </a:extLst>
          </p:cNvPr>
          <p:cNvSpPr>
            <a:spLocks noGrp="1"/>
          </p:cNvSpPr>
          <p:nvPr>
            <p:ph type="sldNum" sz="quarter" idx="12"/>
          </p:nvPr>
        </p:nvSpPr>
        <p:spPr/>
        <p:txBody>
          <a:bodyPr/>
          <a:lstStyle/>
          <a:p>
            <a:fld id="{BFFA6185-43C8-4774-884C-9D6B974CCEAE}" type="slidenum">
              <a:rPr lang="en-IN" smtClean="0"/>
              <a:t>‹#›</a:t>
            </a:fld>
            <a:endParaRPr lang="en-IN"/>
          </a:p>
        </p:txBody>
      </p:sp>
    </p:spTree>
    <p:extLst>
      <p:ext uri="{BB962C8B-B14F-4D97-AF65-F5344CB8AC3E}">
        <p14:creationId xmlns:p14="http://schemas.microsoft.com/office/powerpoint/2010/main" val="982117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25528-C910-74FA-DF8B-C33C954EB1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192B537-3BAE-DDA4-A67D-7345508753A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FBDF69-7377-5682-52E2-A5A97808D6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7FBF75-4F6C-6887-655E-DA393715B860}"/>
              </a:ext>
            </a:extLst>
          </p:cNvPr>
          <p:cNvSpPr>
            <a:spLocks noGrp="1"/>
          </p:cNvSpPr>
          <p:nvPr>
            <p:ph type="dt" sz="half" idx="10"/>
          </p:nvPr>
        </p:nvSpPr>
        <p:spPr/>
        <p:txBody>
          <a:bodyPr/>
          <a:lstStyle/>
          <a:p>
            <a:fld id="{23184406-2F7D-43AA-AC80-89540E63E66A}" type="datetimeFigureOut">
              <a:rPr lang="en-IN" smtClean="0"/>
              <a:t>12-10-2026</a:t>
            </a:fld>
            <a:endParaRPr lang="en-IN"/>
          </a:p>
        </p:txBody>
      </p:sp>
      <p:sp>
        <p:nvSpPr>
          <p:cNvPr id="6" name="Footer Placeholder 5">
            <a:extLst>
              <a:ext uri="{FF2B5EF4-FFF2-40B4-BE49-F238E27FC236}">
                <a16:creationId xmlns:a16="http://schemas.microsoft.com/office/drawing/2014/main" id="{084F9B71-517D-02D4-0D56-ED26451BC0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CF9179-90F7-0030-D01D-837AA6C5BDCB}"/>
              </a:ext>
            </a:extLst>
          </p:cNvPr>
          <p:cNvSpPr>
            <a:spLocks noGrp="1"/>
          </p:cNvSpPr>
          <p:nvPr>
            <p:ph type="sldNum" sz="quarter" idx="12"/>
          </p:nvPr>
        </p:nvSpPr>
        <p:spPr/>
        <p:txBody>
          <a:bodyPr/>
          <a:lstStyle/>
          <a:p>
            <a:fld id="{BFFA6185-43C8-4774-884C-9D6B974CCEAE}" type="slidenum">
              <a:rPr lang="en-IN" smtClean="0"/>
              <a:t>‹#›</a:t>
            </a:fld>
            <a:endParaRPr lang="en-IN"/>
          </a:p>
        </p:txBody>
      </p:sp>
    </p:spTree>
    <p:extLst>
      <p:ext uri="{BB962C8B-B14F-4D97-AF65-F5344CB8AC3E}">
        <p14:creationId xmlns:p14="http://schemas.microsoft.com/office/powerpoint/2010/main" val="299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4681B-E88E-7654-4DC0-4F8D8DD1600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B1831C-4450-39B6-2BA3-EAD57FCF06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AE1491-A26C-527D-CE58-A0CCB1D0446B}"/>
              </a:ext>
            </a:extLst>
          </p:cNvPr>
          <p:cNvSpPr>
            <a:spLocks noGrp="1"/>
          </p:cNvSpPr>
          <p:nvPr>
            <p:ph type="dt" sz="half" idx="10"/>
          </p:nvPr>
        </p:nvSpPr>
        <p:spPr/>
        <p:txBody>
          <a:bodyPr/>
          <a:lstStyle/>
          <a:p>
            <a:fld id="{23184406-2F7D-43AA-AC80-89540E63E66A}" type="datetimeFigureOut">
              <a:rPr lang="en-IN" smtClean="0"/>
              <a:t>12-10-2026</a:t>
            </a:fld>
            <a:endParaRPr lang="en-IN"/>
          </a:p>
        </p:txBody>
      </p:sp>
      <p:sp>
        <p:nvSpPr>
          <p:cNvPr id="5" name="Footer Placeholder 4">
            <a:extLst>
              <a:ext uri="{FF2B5EF4-FFF2-40B4-BE49-F238E27FC236}">
                <a16:creationId xmlns:a16="http://schemas.microsoft.com/office/drawing/2014/main" id="{41527854-C391-3556-9AE6-8A48B13D31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DA4153-6819-AEA2-0A7B-257716A91F6D}"/>
              </a:ext>
            </a:extLst>
          </p:cNvPr>
          <p:cNvSpPr>
            <a:spLocks noGrp="1"/>
          </p:cNvSpPr>
          <p:nvPr>
            <p:ph type="sldNum" sz="quarter" idx="12"/>
          </p:nvPr>
        </p:nvSpPr>
        <p:spPr/>
        <p:txBody>
          <a:bodyPr/>
          <a:lstStyle/>
          <a:p>
            <a:fld id="{BFFA6185-43C8-4774-884C-9D6B974CCEAE}" type="slidenum">
              <a:rPr lang="en-IN" smtClean="0"/>
              <a:t>‹#›</a:t>
            </a:fld>
            <a:endParaRPr lang="en-IN"/>
          </a:p>
        </p:txBody>
      </p:sp>
    </p:spTree>
    <p:extLst>
      <p:ext uri="{BB962C8B-B14F-4D97-AF65-F5344CB8AC3E}">
        <p14:creationId xmlns:p14="http://schemas.microsoft.com/office/powerpoint/2010/main" val="3368387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299225-5D69-3653-0ECD-67178B4B41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B0B877-CB25-BAB4-A351-CB5AFBEAC3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14C6D3-D605-FE20-EBD4-9EAF602E9115}"/>
              </a:ext>
            </a:extLst>
          </p:cNvPr>
          <p:cNvSpPr>
            <a:spLocks noGrp="1"/>
          </p:cNvSpPr>
          <p:nvPr>
            <p:ph type="dt" sz="half" idx="10"/>
          </p:nvPr>
        </p:nvSpPr>
        <p:spPr/>
        <p:txBody>
          <a:bodyPr/>
          <a:lstStyle/>
          <a:p>
            <a:fld id="{23184406-2F7D-43AA-AC80-89540E63E66A}" type="datetimeFigureOut">
              <a:rPr lang="en-IN" smtClean="0"/>
              <a:t>12-10-2026</a:t>
            </a:fld>
            <a:endParaRPr lang="en-IN"/>
          </a:p>
        </p:txBody>
      </p:sp>
      <p:sp>
        <p:nvSpPr>
          <p:cNvPr id="5" name="Footer Placeholder 4">
            <a:extLst>
              <a:ext uri="{FF2B5EF4-FFF2-40B4-BE49-F238E27FC236}">
                <a16:creationId xmlns:a16="http://schemas.microsoft.com/office/drawing/2014/main" id="{C42999F6-A908-3BDF-B96E-E76E0FAA6C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EDC368-B563-2944-BF69-4B12DF237D37}"/>
              </a:ext>
            </a:extLst>
          </p:cNvPr>
          <p:cNvSpPr>
            <a:spLocks noGrp="1"/>
          </p:cNvSpPr>
          <p:nvPr>
            <p:ph type="sldNum" sz="quarter" idx="12"/>
          </p:nvPr>
        </p:nvSpPr>
        <p:spPr/>
        <p:txBody>
          <a:bodyPr/>
          <a:lstStyle/>
          <a:p>
            <a:fld id="{BFFA6185-43C8-4774-884C-9D6B974CCEAE}" type="slidenum">
              <a:rPr lang="en-IN" smtClean="0"/>
              <a:t>‹#›</a:t>
            </a:fld>
            <a:endParaRPr lang="en-IN"/>
          </a:p>
        </p:txBody>
      </p:sp>
    </p:spTree>
    <p:extLst>
      <p:ext uri="{BB962C8B-B14F-4D97-AF65-F5344CB8AC3E}">
        <p14:creationId xmlns:p14="http://schemas.microsoft.com/office/powerpoint/2010/main" val="2984181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72550B-F5A1-91C5-E66D-E61B989A49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800158-A59F-C44B-B93E-E3C85D46A4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4F200C-6889-1628-E765-579B929E4A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3184406-2F7D-43AA-AC80-89540E63E66A}" type="datetimeFigureOut">
              <a:rPr lang="en-IN" smtClean="0"/>
              <a:t>12-10-2026</a:t>
            </a:fld>
            <a:endParaRPr lang="en-IN"/>
          </a:p>
        </p:txBody>
      </p:sp>
      <p:sp>
        <p:nvSpPr>
          <p:cNvPr id="5" name="Footer Placeholder 4">
            <a:extLst>
              <a:ext uri="{FF2B5EF4-FFF2-40B4-BE49-F238E27FC236}">
                <a16:creationId xmlns:a16="http://schemas.microsoft.com/office/drawing/2014/main" id="{6FFB7A77-FB8B-334A-26E6-8E04A34AA2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10ECAFB-2917-21E7-993F-79CBD8034A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FA6185-43C8-4774-884C-9D6B974CCEAE}" type="slidenum">
              <a:rPr lang="en-IN" smtClean="0"/>
              <a:t>‹#›</a:t>
            </a:fld>
            <a:endParaRPr lang="en-IN"/>
          </a:p>
        </p:txBody>
      </p:sp>
    </p:spTree>
    <p:extLst>
      <p:ext uri="{BB962C8B-B14F-4D97-AF65-F5344CB8AC3E}">
        <p14:creationId xmlns:p14="http://schemas.microsoft.com/office/powerpoint/2010/main" val="452266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5A69A-8117-5D56-ADDD-4BF8B7A99B3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F5B1DCE-2235-A048-A505-055F03DAC76B}"/>
              </a:ext>
            </a:extLst>
          </p:cNvPr>
          <p:cNvSpPr/>
          <p:nvPr/>
        </p:nvSpPr>
        <p:spPr>
          <a:xfrm>
            <a:off x="393192" y="393192"/>
            <a:ext cx="11430000" cy="60258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4893A437-D670-55E2-0AE3-9A15EA865A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728" y="438912"/>
            <a:ext cx="1083607" cy="1000252"/>
          </a:xfrm>
          <a:prstGeom prst="rect">
            <a:avLst/>
          </a:prstGeom>
        </p:spPr>
      </p:pic>
      <p:pic>
        <p:nvPicPr>
          <p:cNvPr id="6" name="Picture 5">
            <a:extLst>
              <a:ext uri="{FF2B5EF4-FFF2-40B4-BE49-F238E27FC236}">
                <a16:creationId xmlns:a16="http://schemas.microsoft.com/office/drawing/2014/main" id="{DE5DAF46-5B7A-870F-79BB-751B0D698B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2176" y="416051"/>
            <a:ext cx="1220768" cy="952987"/>
          </a:xfrm>
          <a:prstGeom prst="rect">
            <a:avLst/>
          </a:prstGeom>
        </p:spPr>
      </p:pic>
      <p:sp>
        <p:nvSpPr>
          <p:cNvPr id="5" name="TextBox 4">
            <a:extLst>
              <a:ext uri="{FF2B5EF4-FFF2-40B4-BE49-F238E27FC236}">
                <a16:creationId xmlns:a16="http://schemas.microsoft.com/office/drawing/2014/main" id="{EC4513D4-AE53-FE8F-78DB-6681CCC46B3F}"/>
              </a:ext>
            </a:extLst>
          </p:cNvPr>
          <p:cNvSpPr txBox="1"/>
          <p:nvPr/>
        </p:nvSpPr>
        <p:spPr>
          <a:xfrm>
            <a:off x="2361438" y="563803"/>
            <a:ext cx="7843266" cy="1481175"/>
          </a:xfrm>
          <a:prstGeom prst="rect">
            <a:avLst/>
          </a:prstGeom>
          <a:noFill/>
        </p:spPr>
        <p:txBody>
          <a:bodyPr wrap="square">
            <a:spAutoFit/>
          </a:bodyPr>
          <a:lstStyle/>
          <a:p>
            <a:pPr algn="ctr">
              <a:lnSpc>
                <a:spcPct val="150000"/>
              </a:lnSpc>
            </a:pPr>
            <a:r>
              <a:rPr lang="en-IN" sz="3200" b="1" dirty="0">
                <a:latin typeface="Times New Roman" panose="02020603050405020304" pitchFamily="18" charset="0"/>
                <a:cs typeface="Times New Roman" panose="02020603050405020304" pitchFamily="18" charset="0"/>
              </a:rPr>
              <a:t>Security Attacks, Threats, Risks and Their Impact on Security Goals</a:t>
            </a:r>
          </a:p>
        </p:txBody>
      </p:sp>
      <p:sp>
        <p:nvSpPr>
          <p:cNvPr id="7" name="TextBox 6">
            <a:extLst>
              <a:ext uri="{FF2B5EF4-FFF2-40B4-BE49-F238E27FC236}">
                <a16:creationId xmlns:a16="http://schemas.microsoft.com/office/drawing/2014/main" id="{07625AA2-2F8D-2CAC-D404-59BB7F32E019}"/>
              </a:ext>
            </a:extLst>
          </p:cNvPr>
          <p:cNvSpPr txBox="1"/>
          <p:nvPr/>
        </p:nvSpPr>
        <p:spPr>
          <a:xfrm>
            <a:off x="2547747" y="2417823"/>
            <a:ext cx="7470648" cy="1292662"/>
          </a:xfrm>
          <a:prstGeom prst="rect">
            <a:avLst/>
          </a:prstGeom>
          <a:noFill/>
        </p:spPr>
        <p:txBody>
          <a:bodyPr wrap="square" rtlCol="0">
            <a:spAutoFit/>
          </a:bodyPr>
          <a:lstStyle/>
          <a:p>
            <a:pPr algn="ctr">
              <a:lnSpc>
                <a:spcPct val="150000"/>
              </a:lnSpc>
            </a:pPr>
            <a:r>
              <a:rPr lang="en-IN" sz="2000" b="1" dirty="0">
                <a:latin typeface="Times New Roman" panose="02020603050405020304" pitchFamily="18" charset="0"/>
                <a:cs typeface="Times New Roman" panose="02020603050405020304" pitchFamily="18" charset="0"/>
              </a:rPr>
              <a:t>Course Code : </a:t>
            </a:r>
            <a:r>
              <a:rPr lang="en-IN" sz="2000" dirty="0">
                <a:latin typeface="Times New Roman" panose="02020603050405020304" pitchFamily="18" charset="0"/>
                <a:cs typeface="Times New Roman" panose="02020603050405020304" pitchFamily="18" charset="0"/>
              </a:rPr>
              <a:t>CSA5112</a:t>
            </a:r>
            <a:r>
              <a:rPr lang="en-IN" sz="2000" b="1" dirty="0">
                <a:latin typeface="Times New Roman" panose="02020603050405020304" pitchFamily="18" charset="0"/>
                <a:cs typeface="Times New Roman" panose="02020603050405020304" pitchFamily="18" charset="0"/>
              </a:rPr>
              <a:t> </a:t>
            </a:r>
          </a:p>
          <a:p>
            <a:pPr algn="ctr">
              <a:lnSpc>
                <a:spcPct val="150000"/>
              </a:lnSpc>
            </a:pPr>
            <a:r>
              <a:rPr lang="en-IN" sz="2000" b="1" dirty="0">
                <a:latin typeface="Times New Roman" panose="02020603050405020304" pitchFamily="18" charset="0"/>
                <a:cs typeface="Times New Roman" panose="02020603050405020304" pitchFamily="18" charset="0"/>
              </a:rPr>
              <a:t>Course Name: </a:t>
            </a:r>
            <a:r>
              <a:rPr lang="en-IN" sz="2000" dirty="0">
                <a:latin typeface="Times New Roman" panose="02020603050405020304" pitchFamily="18" charset="0"/>
                <a:cs typeface="Times New Roman" panose="02020603050405020304" pitchFamily="18" charset="0"/>
              </a:rPr>
              <a:t>Cryptography And Network Security</a:t>
            </a:r>
          </a:p>
          <a:p>
            <a:endParaRPr lang="en-IN" dirty="0"/>
          </a:p>
        </p:txBody>
      </p:sp>
      <p:sp>
        <p:nvSpPr>
          <p:cNvPr id="8" name="TextBox 7">
            <a:extLst>
              <a:ext uri="{FF2B5EF4-FFF2-40B4-BE49-F238E27FC236}">
                <a16:creationId xmlns:a16="http://schemas.microsoft.com/office/drawing/2014/main" id="{ECB1EEE3-ACB2-440D-263A-B25AA7607997}"/>
              </a:ext>
            </a:extLst>
          </p:cNvPr>
          <p:cNvSpPr txBox="1"/>
          <p:nvPr/>
        </p:nvSpPr>
        <p:spPr>
          <a:xfrm>
            <a:off x="804672" y="3849624"/>
            <a:ext cx="4398264" cy="1883657"/>
          </a:xfrm>
          <a:prstGeom prst="rect">
            <a:avLst/>
          </a:prstGeom>
          <a:noFill/>
        </p:spPr>
        <p:txBody>
          <a:bodyPr wrap="square" rtlCol="0">
            <a:spAutoFit/>
          </a:bodyPr>
          <a:lstStyle/>
          <a:p>
            <a:pPr>
              <a:lnSpc>
                <a:spcPct val="150000"/>
              </a:lnSpc>
            </a:pPr>
            <a:r>
              <a:rPr lang="en-IN" sz="2000" b="1" dirty="0">
                <a:latin typeface="Times New Roman" panose="02020603050405020304" pitchFamily="18" charset="0"/>
                <a:cs typeface="Times New Roman" panose="02020603050405020304" pitchFamily="18" charset="0"/>
              </a:rPr>
              <a:t>Presented  by :</a:t>
            </a:r>
          </a:p>
          <a:p>
            <a:pPr>
              <a:lnSpc>
                <a:spcPct val="150000"/>
              </a:lnSpc>
            </a:pPr>
            <a:r>
              <a:rPr lang="en-IN" sz="2000" dirty="0">
                <a:latin typeface="Times New Roman" panose="02020603050405020304" pitchFamily="18" charset="0"/>
                <a:cs typeface="Times New Roman" panose="02020603050405020304" pitchFamily="18" charset="0"/>
              </a:rPr>
              <a:t>                           Name :  Reshma S</a:t>
            </a:r>
          </a:p>
          <a:p>
            <a:pPr>
              <a:lnSpc>
                <a:spcPct val="150000"/>
              </a:lnSpc>
            </a:pPr>
            <a:r>
              <a:rPr lang="en-IN" sz="2000" dirty="0">
                <a:latin typeface="Times New Roman" panose="02020603050405020304" pitchFamily="18" charset="0"/>
                <a:cs typeface="Times New Roman" panose="02020603050405020304" pitchFamily="18" charset="0"/>
              </a:rPr>
              <a:t>                           Reg.no :192421229</a:t>
            </a:r>
          </a:p>
          <a:p>
            <a:pPr>
              <a:lnSpc>
                <a:spcPct val="150000"/>
              </a:lnSpc>
            </a:pPr>
            <a:r>
              <a:rPr lang="en-IN" sz="2000" dirty="0">
                <a:latin typeface="Times New Roman" panose="02020603050405020304" pitchFamily="18" charset="0"/>
                <a:cs typeface="Times New Roman" panose="02020603050405020304" pitchFamily="18" charset="0"/>
              </a:rPr>
              <a:t>                           Dept : </a:t>
            </a:r>
            <a:r>
              <a:rPr lang="en-IN" sz="2000" dirty="0" err="1">
                <a:latin typeface="Times New Roman" panose="02020603050405020304" pitchFamily="18" charset="0"/>
                <a:cs typeface="Times New Roman" panose="02020603050405020304" pitchFamily="18" charset="0"/>
              </a:rPr>
              <a:t>Btech</a:t>
            </a:r>
            <a:r>
              <a:rPr lang="en-IN" sz="2000" dirty="0">
                <a:latin typeface="Times New Roman" panose="02020603050405020304" pitchFamily="18" charset="0"/>
                <a:cs typeface="Times New Roman" panose="02020603050405020304" pitchFamily="18" charset="0"/>
              </a:rPr>
              <a:t> IT</a:t>
            </a:r>
          </a:p>
        </p:txBody>
      </p:sp>
      <p:sp>
        <p:nvSpPr>
          <p:cNvPr id="9" name="TextBox 8">
            <a:extLst>
              <a:ext uri="{FF2B5EF4-FFF2-40B4-BE49-F238E27FC236}">
                <a16:creationId xmlns:a16="http://schemas.microsoft.com/office/drawing/2014/main" id="{049B395E-F1A6-016F-2D58-959E86C24CE5}"/>
              </a:ext>
            </a:extLst>
          </p:cNvPr>
          <p:cNvSpPr txBox="1"/>
          <p:nvPr/>
        </p:nvSpPr>
        <p:spPr>
          <a:xfrm>
            <a:off x="7223760" y="3849624"/>
            <a:ext cx="4279392" cy="873572"/>
          </a:xfrm>
          <a:prstGeom prst="rect">
            <a:avLst/>
          </a:prstGeom>
          <a:noFill/>
        </p:spPr>
        <p:txBody>
          <a:bodyPr wrap="square" rtlCol="0">
            <a:spAutoFit/>
          </a:bodyPr>
          <a:lstStyle/>
          <a:p>
            <a:pPr>
              <a:lnSpc>
                <a:spcPct val="150000"/>
              </a:lnSpc>
            </a:pPr>
            <a:r>
              <a:rPr lang="en-IN" b="1" dirty="0">
                <a:latin typeface="Times New Roman" panose="02020603050405020304" pitchFamily="18" charset="0"/>
                <a:cs typeface="Times New Roman" panose="02020603050405020304" pitchFamily="18" charset="0"/>
              </a:rPr>
              <a:t>Guided by :</a:t>
            </a:r>
          </a:p>
          <a:p>
            <a:pPr>
              <a:lnSpc>
                <a:spcPct val="150000"/>
              </a:lnSpc>
            </a:pPr>
            <a:r>
              <a:rPr lang="en-IN" dirty="0">
                <a:latin typeface="Times New Roman" panose="02020603050405020304" pitchFamily="18" charset="0"/>
                <a:cs typeface="Times New Roman" panose="02020603050405020304" pitchFamily="18" charset="0"/>
              </a:rPr>
              <a:t>                     Sivasankar </a:t>
            </a:r>
            <a:r>
              <a:rPr lang="en-IN" dirty="0" err="1">
                <a:latin typeface="Times New Roman" panose="02020603050405020304" pitchFamily="18" charset="0"/>
                <a:cs typeface="Times New Roman" panose="02020603050405020304" pitchFamily="18" charset="0"/>
              </a:rPr>
              <a:t>chandrasekaran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8829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DF26FF-1C51-A7D4-34F9-C50FA92453B4}"/>
              </a:ext>
            </a:extLst>
          </p:cNvPr>
          <p:cNvSpPr/>
          <p:nvPr/>
        </p:nvSpPr>
        <p:spPr>
          <a:xfrm>
            <a:off x="393192" y="393192"/>
            <a:ext cx="11430000" cy="60258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C8614E7D-CBEE-61A6-EB01-696D38F3C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728" y="438912"/>
            <a:ext cx="1083607" cy="1000252"/>
          </a:xfrm>
          <a:prstGeom prst="rect">
            <a:avLst/>
          </a:prstGeom>
        </p:spPr>
      </p:pic>
      <p:pic>
        <p:nvPicPr>
          <p:cNvPr id="6" name="Picture 5">
            <a:extLst>
              <a:ext uri="{FF2B5EF4-FFF2-40B4-BE49-F238E27FC236}">
                <a16:creationId xmlns:a16="http://schemas.microsoft.com/office/drawing/2014/main" id="{F3D209AF-5398-BB06-FCC2-91BE6B2B87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2176" y="416051"/>
            <a:ext cx="1220768" cy="952987"/>
          </a:xfrm>
          <a:prstGeom prst="rect">
            <a:avLst/>
          </a:prstGeom>
        </p:spPr>
      </p:pic>
      <p:sp>
        <p:nvSpPr>
          <p:cNvPr id="7" name="TextBox 6">
            <a:extLst>
              <a:ext uri="{FF2B5EF4-FFF2-40B4-BE49-F238E27FC236}">
                <a16:creationId xmlns:a16="http://schemas.microsoft.com/office/drawing/2014/main" id="{F6C7B91D-4839-1904-3435-458338818C2F}"/>
              </a:ext>
            </a:extLst>
          </p:cNvPr>
          <p:cNvSpPr txBox="1"/>
          <p:nvPr/>
        </p:nvSpPr>
        <p:spPr>
          <a:xfrm>
            <a:off x="5120640" y="554317"/>
            <a:ext cx="5669280"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Agenda </a:t>
            </a:r>
          </a:p>
        </p:txBody>
      </p:sp>
      <p:sp>
        <p:nvSpPr>
          <p:cNvPr id="8" name="TextBox 7">
            <a:extLst>
              <a:ext uri="{FF2B5EF4-FFF2-40B4-BE49-F238E27FC236}">
                <a16:creationId xmlns:a16="http://schemas.microsoft.com/office/drawing/2014/main" id="{B0C7F3DA-5D07-D3C9-C824-BAFB3CD802F5}"/>
              </a:ext>
            </a:extLst>
          </p:cNvPr>
          <p:cNvSpPr txBox="1"/>
          <p:nvPr/>
        </p:nvSpPr>
        <p:spPr>
          <a:xfrm>
            <a:off x="4178808" y="1973172"/>
            <a:ext cx="6373368" cy="3349956"/>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Introduction</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Security Attacks and Threats</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Security Risks and Their Impact</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Security Goals </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Prevention </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3283074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7DD19-0D24-21B4-4689-C3569070470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261F0EB-A521-5E98-2F62-49C4E89647C2}"/>
              </a:ext>
            </a:extLst>
          </p:cNvPr>
          <p:cNvSpPr/>
          <p:nvPr/>
        </p:nvSpPr>
        <p:spPr>
          <a:xfrm>
            <a:off x="393192" y="393192"/>
            <a:ext cx="11430000" cy="60258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AC1F43EC-5267-EEF5-E71E-585B09ABF4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728" y="438912"/>
            <a:ext cx="1083607" cy="1000252"/>
          </a:xfrm>
          <a:prstGeom prst="rect">
            <a:avLst/>
          </a:prstGeom>
        </p:spPr>
      </p:pic>
      <p:pic>
        <p:nvPicPr>
          <p:cNvPr id="6" name="Picture 5">
            <a:extLst>
              <a:ext uri="{FF2B5EF4-FFF2-40B4-BE49-F238E27FC236}">
                <a16:creationId xmlns:a16="http://schemas.microsoft.com/office/drawing/2014/main" id="{BFB227B6-0423-D702-17CB-C4D4C63678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2176" y="416051"/>
            <a:ext cx="1220768" cy="952987"/>
          </a:xfrm>
          <a:prstGeom prst="rect">
            <a:avLst/>
          </a:prstGeom>
        </p:spPr>
      </p:pic>
      <p:sp>
        <p:nvSpPr>
          <p:cNvPr id="3" name="TextBox 2">
            <a:extLst>
              <a:ext uri="{FF2B5EF4-FFF2-40B4-BE49-F238E27FC236}">
                <a16:creationId xmlns:a16="http://schemas.microsoft.com/office/drawing/2014/main" id="{9725BE05-D117-3BB0-AE53-135E28F60858}"/>
              </a:ext>
            </a:extLst>
          </p:cNvPr>
          <p:cNvSpPr txBox="1"/>
          <p:nvPr/>
        </p:nvSpPr>
        <p:spPr>
          <a:xfrm>
            <a:off x="4745736" y="585095"/>
            <a:ext cx="6044184"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Introduction</a:t>
            </a:r>
          </a:p>
        </p:txBody>
      </p:sp>
      <p:sp>
        <p:nvSpPr>
          <p:cNvPr id="7" name="TextBox 6">
            <a:extLst>
              <a:ext uri="{FF2B5EF4-FFF2-40B4-BE49-F238E27FC236}">
                <a16:creationId xmlns:a16="http://schemas.microsoft.com/office/drawing/2014/main" id="{42EB8505-B2E9-FADE-4238-5D2B868D6207}"/>
              </a:ext>
            </a:extLst>
          </p:cNvPr>
          <p:cNvSpPr txBox="1"/>
          <p:nvPr/>
        </p:nvSpPr>
        <p:spPr>
          <a:xfrm>
            <a:off x="667512" y="1472821"/>
            <a:ext cx="7031736" cy="5115311"/>
          </a:xfrm>
          <a:prstGeom prst="rect">
            <a:avLst/>
          </a:prstGeom>
          <a:noFill/>
        </p:spPr>
        <p:txBody>
          <a:bodyPr wrap="square" rtlCol="0">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To understand security attacks, threats, risks, and their impact on information security.</a:t>
            </a:r>
          </a:p>
          <a:p>
            <a:pPr marL="342900" lvl="0" indent="-342900"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Information security protects data from unauthorized access and damage.</a:t>
            </a:r>
          </a:p>
          <a:p>
            <a:pPr marL="342900" lvl="0" indent="-342900"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Security attacks try to steal, change, or destroy information.</a:t>
            </a:r>
          </a:p>
          <a:p>
            <a:pPr marL="342900" lvl="0" indent="-342900"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Security threats are possible dangers to computer systems.</a:t>
            </a:r>
          </a:p>
          <a:p>
            <a:pPr marL="342900" lvl="0" indent="-342900"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Security risks are the chances of a threat causing damage.</a:t>
            </a:r>
          </a:p>
          <a:p>
            <a:pPr marL="342900" lvl="0" indent="-342900" algn="just">
              <a:lnSpc>
                <a:spcPct val="150000"/>
              </a:lnSpc>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Security goals help keep information safe and secure.</a:t>
            </a:r>
          </a:p>
          <a:p>
            <a:pPr algn="just">
              <a:lnSpc>
                <a:spcPct val="150000"/>
              </a:lnSpc>
            </a:pPr>
            <a:r>
              <a:rPr lang="en-IN" sz="2000" b="1" dirty="0">
                <a:latin typeface="Times New Roman" panose="02020603050405020304" pitchFamily="18" charset="0"/>
                <a:cs typeface="Times New Roman" panose="02020603050405020304" pitchFamily="18" charset="0"/>
              </a:rPr>
              <a:t>Example: </a:t>
            </a:r>
            <a:r>
              <a:rPr lang="en-IN" sz="2000" dirty="0">
                <a:latin typeface="Times New Roman" panose="02020603050405020304" pitchFamily="18" charset="0"/>
                <a:cs typeface="Times New Roman" panose="02020603050405020304" pitchFamily="18" charset="0"/>
              </a:rPr>
              <a:t>Protecting student’s personal details stored in a college database.</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pic>
        <p:nvPicPr>
          <p:cNvPr id="8" name="Picture 7" descr="Cyber risk and its impact on your organization">
            <a:extLst>
              <a:ext uri="{FF2B5EF4-FFF2-40B4-BE49-F238E27FC236}">
                <a16:creationId xmlns:a16="http://schemas.microsoft.com/office/drawing/2014/main" id="{41492317-9A55-24D2-2CC7-FDE0825C6B4A}"/>
              </a:ext>
            </a:extLst>
          </p:cNvPr>
          <p:cNvPicPr>
            <a:picLocks noChangeAspect="1"/>
          </p:cNvPicPr>
          <p:nvPr/>
        </p:nvPicPr>
        <p:blipFill>
          <a:blip r:embed="rId4"/>
          <a:stretch>
            <a:fillRect/>
          </a:stretch>
        </p:blipFill>
        <p:spPr>
          <a:xfrm>
            <a:off x="7699248" y="1746504"/>
            <a:ext cx="4073696" cy="3813048"/>
          </a:xfrm>
          <a:prstGeom prst="rect">
            <a:avLst/>
          </a:prstGeom>
        </p:spPr>
      </p:pic>
    </p:spTree>
    <p:extLst>
      <p:ext uri="{BB962C8B-B14F-4D97-AF65-F5344CB8AC3E}">
        <p14:creationId xmlns:p14="http://schemas.microsoft.com/office/powerpoint/2010/main" val="3178382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0D66A-66ED-DD76-2C41-18A190DA2D3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8E2B421-6C6B-5E0A-2BD4-18BD68A17910}"/>
              </a:ext>
            </a:extLst>
          </p:cNvPr>
          <p:cNvSpPr/>
          <p:nvPr/>
        </p:nvSpPr>
        <p:spPr>
          <a:xfrm>
            <a:off x="393192" y="393192"/>
            <a:ext cx="11430000" cy="60258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 name="Picture 3">
            <a:extLst>
              <a:ext uri="{FF2B5EF4-FFF2-40B4-BE49-F238E27FC236}">
                <a16:creationId xmlns:a16="http://schemas.microsoft.com/office/drawing/2014/main" id="{F3BD9BE9-3374-9C3C-3C06-77FA998AB3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728" y="438912"/>
            <a:ext cx="1083607" cy="1000252"/>
          </a:xfrm>
          <a:prstGeom prst="rect">
            <a:avLst/>
          </a:prstGeom>
        </p:spPr>
      </p:pic>
      <p:pic>
        <p:nvPicPr>
          <p:cNvPr id="6" name="Picture 5">
            <a:extLst>
              <a:ext uri="{FF2B5EF4-FFF2-40B4-BE49-F238E27FC236}">
                <a16:creationId xmlns:a16="http://schemas.microsoft.com/office/drawing/2014/main" id="{06BD9B4D-F73A-98AF-7AF6-4F3E1D6DB1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2176" y="416051"/>
            <a:ext cx="1220768" cy="952987"/>
          </a:xfrm>
          <a:prstGeom prst="rect">
            <a:avLst/>
          </a:prstGeom>
        </p:spPr>
      </p:pic>
      <p:sp>
        <p:nvSpPr>
          <p:cNvPr id="3" name="TextBox 2">
            <a:extLst>
              <a:ext uri="{FF2B5EF4-FFF2-40B4-BE49-F238E27FC236}">
                <a16:creationId xmlns:a16="http://schemas.microsoft.com/office/drawing/2014/main" id="{2D7D4AC8-D92B-9E96-75E4-10FA69986FFD}"/>
              </a:ext>
            </a:extLst>
          </p:cNvPr>
          <p:cNvSpPr txBox="1"/>
          <p:nvPr/>
        </p:nvSpPr>
        <p:spPr>
          <a:xfrm>
            <a:off x="3200399" y="552196"/>
            <a:ext cx="6967728" cy="1323439"/>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Security Attacks and Threats</a:t>
            </a:r>
          </a:p>
          <a:p>
            <a:endParaRPr lang="en-IN" sz="4000" b="1" dirty="0"/>
          </a:p>
        </p:txBody>
      </p:sp>
      <p:sp>
        <p:nvSpPr>
          <p:cNvPr id="5" name="TextBox 4">
            <a:extLst>
              <a:ext uri="{FF2B5EF4-FFF2-40B4-BE49-F238E27FC236}">
                <a16:creationId xmlns:a16="http://schemas.microsoft.com/office/drawing/2014/main" id="{ACAAFBBB-D42A-DF87-2050-44F256EF2F49}"/>
              </a:ext>
            </a:extLst>
          </p:cNvPr>
          <p:cNvSpPr txBox="1"/>
          <p:nvPr/>
        </p:nvSpPr>
        <p:spPr>
          <a:xfrm>
            <a:off x="461729" y="1635859"/>
            <a:ext cx="4951519" cy="4653646"/>
          </a:xfrm>
          <a:prstGeom prst="rect">
            <a:avLst/>
          </a:prstGeom>
          <a:noFill/>
        </p:spPr>
        <p:txBody>
          <a:bodyPr wrap="square" rtlCol="0">
            <a:sp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Security Attack: </a:t>
            </a:r>
            <a:r>
              <a:rPr lang="en-IN" sz="2000" dirty="0">
                <a:latin typeface="Times New Roman" panose="02020603050405020304" pitchFamily="18" charset="0"/>
                <a:cs typeface="Times New Roman" panose="02020603050405020304" pitchFamily="18" charset="0"/>
              </a:rPr>
              <a:t>An action performed to steal, modify, or damage information.</a:t>
            </a:r>
          </a:p>
          <a:p>
            <a:pPr algn="just">
              <a:lnSpc>
                <a:spcPct val="150000"/>
              </a:lnSpc>
            </a:pPr>
            <a:r>
              <a:rPr lang="en-IN" sz="2000" dirty="0">
                <a:latin typeface="Times New Roman" panose="02020603050405020304" pitchFamily="18" charset="0"/>
                <a:cs typeface="Times New Roman" panose="02020603050405020304" pitchFamily="18" charset="0"/>
              </a:rPr>
              <a:t>Examples: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Phishing: Fake emails or websites used to steal passwords.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Malware: Harmful software that damages a computer.</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Password Attack: Trying to discover someone's password.</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6BB28DA-1561-5892-82F1-33BFD1CC4E21}"/>
              </a:ext>
            </a:extLst>
          </p:cNvPr>
          <p:cNvSpPr txBox="1"/>
          <p:nvPr/>
        </p:nvSpPr>
        <p:spPr>
          <a:xfrm>
            <a:off x="6766560" y="2001854"/>
            <a:ext cx="4910328" cy="3600986"/>
          </a:xfrm>
          <a:prstGeom prst="rect">
            <a:avLst/>
          </a:prstGeom>
          <a:noFill/>
        </p:spPr>
        <p:txBody>
          <a:bodyPr wrap="square" rtlCol="0">
            <a:spAutoFit/>
          </a:bodyPr>
          <a:lstStyle/>
          <a:p>
            <a:pPr algn="just">
              <a:lnSpc>
                <a:spcPct val="150000"/>
              </a:lnSpc>
            </a:pPr>
            <a:r>
              <a:rPr lang="en-IN" sz="2000" b="1" dirty="0">
                <a:latin typeface="Times New Roman" panose="02020603050405020304" pitchFamily="18" charset="0"/>
                <a:cs typeface="Times New Roman" panose="02020603050405020304" pitchFamily="18" charset="0"/>
              </a:rPr>
              <a:t>Security Threat: </a:t>
            </a:r>
            <a:r>
              <a:rPr lang="en-IN" sz="2000" dirty="0">
                <a:latin typeface="Times New Roman" panose="02020603050405020304" pitchFamily="18" charset="0"/>
                <a:cs typeface="Times New Roman" panose="02020603050405020304" pitchFamily="18" charset="0"/>
              </a:rPr>
              <a:t>Anything that could cause harm to a computer system or its data.</a:t>
            </a:r>
          </a:p>
          <a:p>
            <a:pPr algn="just">
              <a:lnSpc>
                <a:spcPct val="150000"/>
              </a:lnSpc>
            </a:pPr>
            <a:r>
              <a:rPr lang="en-IN" sz="2000" dirty="0">
                <a:latin typeface="Times New Roman" panose="02020603050405020304" pitchFamily="18" charset="0"/>
                <a:cs typeface="Times New Roman" panose="02020603050405020304" pitchFamily="18" charset="0"/>
              </a:rPr>
              <a:t>Examples: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Hackers trying to access a system.</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Viruses infecting a computer.</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Employees accidentally sharing confidential data.</a:t>
            </a:r>
          </a:p>
          <a:p>
            <a:endParaRPr lang="en-IN" dirty="0"/>
          </a:p>
        </p:txBody>
      </p:sp>
      <p:sp>
        <p:nvSpPr>
          <p:cNvPr id="10" name="Rectangle: Top Corners Rounded 9">
            <a:extLst>
              <a:ext uri="{FF2B5EF4-FFF2-40B4-BE49-F238E27FC236}">
                <a16:creationId xmlns:a16="http://schemas.microsoft.com/office/drawing/2014/main" id="{33377BD1-E98E-CF2C-156E-AC92178A040E}"/>
              </a:ext>
            </a:extLst>
          </p:cNvPr>
          <p:cNvSpPr/>
          <p:nvPr/>
        </p:nvSpPr>
        <p:spPr>
          <a:xfrm>
            <a:off x="393192" y="1647665"/>
            <a:ext cx="5468112" cy="4224330"/>
          </a:xfrm>
          <a:prstGeom prst="round2Same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Top Corners Rounded 10">
            <a:extLst>
              <a:ext uri="{FF2B5EF4-FFF2-40B4-BE49-F238E27FC236}">
                <a16:creationId xmlns:a16="http://schemas.microsoft.com/office/drawing/2014/main" id="{8CFD7861-B85A-AC0D-6228-5647E8D59D03}"/>
              </a:ext>
            </a:extLst>
          </p:cNvPr>
          <p:cNvSpPr/>
          <p:nvPr/>
        </p:nvSpPr>
        <p:spPr>
          <a:xfrm>
            <a:off x="6663711" y="1647664"/>
            <a:ext cx="5159480" cy="4224329"/>
          </a:xfrm>
          <a:prstGeom prst="round2Same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234F682A-6CEC-89C5-5B21-CBB05EE761DE}"/>
              </a:ext>
            </a:extLst>
          </p:cNvPr>
          <p:cNvSpPr txBox="1"/>
          <p:nvPr/>
        </p:nvSpPr>
        <p:spPr>
          <a:xfrm>
            <a:off x="5964154" y="3429000"/>
            <a:ext cx="544110" cy="369332"/>
          </a:xfrm>
          <a:prstGeom prst="rect">
            <a:avLst/>
          </a:prstGeom>
          <a:noFill/>
        </p:spPr>
        <p:txBody>
          <a:bodyPr wrap="square" rtlCol="0">
            <a:spAutoFit/>
          </a:bodyPr>
          <a:lstStyle/>
          <a:p>
            <a:r>
              <a:rPr lang="en-IN" b="1" dirty="0"/>
              <a:t>VS</a:t>
            </a:r>
          </a:p>
        </p:txBody>
      </p:sp>
    </p:spTree>
    <p:extLst>
      <p:ext uri="{BB962C8B-B14F-4D97-AF65-F5344CB8AC3E}">
        <p14:creationId xmlns:p14="http://schemas.microsoft.com/office/powerpoint/2010/main" val="1828771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3CD8C-EC66-63AE-6049-1CFC510FF02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6963860-5D25-983C-72BE-90245A93DA42}"/>
              </a:ext>
            </a:extLst>
          </p:cNvPr>
          <p:cNvSpPr/>
          <p:nvPr/>
        </p:nvSpPr>
        <p:spPr>
          <a:xfrm>
            <a:off x="393192" y="393192"/>
            <a:ext cx="11430000" cy="60258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 name="Picture 3">
            <a:extLst>
              <a:ext uri="{FF2B5EF4-FFF2-40B4-BE49-F238E27FC236}">
                <a16:creationId xmlns:a16="http://schemas.microsoft.com/office/drawing/2014/main" id="{1E6ED57C-208F-9F17-29A5-968A70B36E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728" y="438912"/>
            <a:ext cx="1083607" cy="1000252"/>
          </a:xfrm>
          <a:prstGeom prst="rect">
            <a:avLst/>
          </a:prstGeom>
        </p:spPr>
      </p:pic>
      <p:pic>
        <p:nvPicPr>
          <p:cNvPr id="6" name="Picture 5">
            <a:extLst>
              <a:ext uri="{FF2B5EF4-FFF2-40B4-BE49-F238E27FC236}">
                <a16:creationId xmlns:a16="http://schemas.microsoft.com/office/drawing/2014/main" id="{DC91A250-884D-1A87-4D33-86289E756C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2176" y="416051"/>
            <a:ext cx="1220768" cy="952987"/>
          </a:xfrm>
          <a:prstGeom prst="rect">
            <a:avLst/>
          </a:prstGeom>
        </p:spPr>
      </p:pic>
      <p:sp>
        <p:nvSpPr>
          <p:cNvPr id="3" name="TextBox 2">
            <a:extLst>
              <a:ext uri="{FF2B5EF4-FFF2-40B4-BE49-F238E27FC236}">
                <a16:creationId xmlns:a16="http://schemas.microsoft.com/office/drawing/2014/main" id="{6B2DC154-1148-6D02-9EF9-06D30C4A5266}"/>
              </a:ext>
            </a:extLst>
          </p:cNvPr>
          <p:cNvSpPr txBox="1"/>
          <p:nvPr/>
        </p:nvSpPr>
        <p:spPr>
          <a:xfrm>
            <a:off x="2825496" y="563360"/>
            <a:ext cx="8458200" cy="1323439"/>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Security Risks and Their Impact</a:t>
            </a:r>
          </a:p>
          <a:p>
            <a:endParaRPr lang="en-IN" sz="4000" b="1" dirty="0"/>
          </a:p>
        </p:txBody>
      </p:sp>
      <p:sp>
        <p:nvSpPr>
          <p:cNvPr id="8" name="Rectangle: Single Corner Snipped 7">
            <a:extLst>
              <a:ext uri="{FF2B5EF4-FFF2-40B4-BE49-F238E27FC236}">
                <a16:creationId xmlns:a16="http://schemas.microsoft.com/office/drawing/2014/main" id="{CBE69A27-29ED-42BD-19C5-F207ED590805}"/>
              </a:ext>
            </a:extLst>
          </p:cNvPr>
          <p:cNvSpPr/>
          <p:nvPr/>
        </p:nvSpPr>
        <p:spPr>
          <a:xfrm>
            <a:off x="6176772" y="1609333"/>
            <a:ext cx="5571744" cy="3621035"/>
          </a:xfrm>
          <a:prstGeom prst="snip1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50000"/>
              </a:lnSpc>
              <a:buNone/>
            </a:pPr>
            <a:r>
              <a:rPr lang="en-IN" b="1" dirty="0">
                <a:latin typeface="Times New Roman" panose="02020603050405020304" pitchFamily="18" charset="0"/>
                <a:cs typeface="Times New Roman" panose="02020603050405020304" pitchFamily="18" charset="0"/>
              </a:rPr>
              <a:t>Impact of Security Risks:</a:t>
            </a: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Loss of confidential information.</a:t>
            </a: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Damage to computer systems.</a:t>
            </a: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Financial loss </a:t>
            </a:r>
          </a:p>
          <a:p>
            <a:pPr marL="34290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 Loss of user trust.</a:t>
            </a:r>
          </a:p>
          <a:p>
            <a:pPr algn="just">
              <a:lnSpc>
                <a:spcPct val="150000"/>
              </a:lnSpc>
              <a:buNone/>
            </a:pPr>
            <a:r>
              <a:rPr lang="en-IN" dirty="0">
                <a:latin typeface="Times New Roman" panose="02020603050405020304" pitchFamily="18" charset="0"/>
                <a:cs typeface="Times New Roman" panose="02020603050405020304" pitchFamily="18" charset="0"/>
              </a:rPr>
              <a:t>Example: If a hacker steals a student's login password, they may access personal details and misuse the account.</a:t>
            </a:r>
          </a:p>
        </p:txBody>
      </p:sp>
      <p:sp>
        <p:nvSpPr>
          <p:cNvPr id="10" name="Rectangle: Single Corner Snipped 9">
            <a:extLst>
              <a:ext uri="{FF2B5EF4-FFF2-40B4-BE49-F238E27FC236}">
                <a16:creationId xmlns:a16="http://schemas.microsoft.com/office/drawing/2014/main" id="{B330412E-7C97-8AD9-315F-BF21E34B44E4}"/>
              </a:ext>
            </a:extLst>
          </p:cNvPr>
          <p:cNvSpPr/>
          <p:nvPr/>
        </p:nvSpPr>
        <p:spPr>
          <a:xfrm>
            <a:off x="508232" y="1609332"/>
            <a:ext cx="5553501" cy="3621036"/>
          </a:xfrm>
          <a:prstGeom prst="snip1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buNone/>
            </a:pPr>
            <a:r>
              <a:rPr lang="en-IN" b="1" dirty="0">
                <a:latin typeface="Times New Roman" panose="02020603050405020304" pitchFamily="18" charset="0"/>
                <a:cs typeface="Times New Roman" panose="02020603050405020304" pitchFamily="18" charset="0"/>
              </a:rPr>
              <a:t>Security Risk: </a:t>
            </a:r>
          </a:p>
          <a:p>
            <a:pPr>
              <a:lnSpc>
                <a:spcPct val="150000"/>
              </a:lnSpc>
              <a:buNone/>
            </a:pPr>
            <a:r>
              <a:rPr lang="en-IN" dirty="0">
                <a:latin typeface="Times New Roman" panose="02020603050405020304" pitchFamily="18" charset="0"/>
                <a:cs typeface="Times New Roman" panose="02020603050405020304" pitchFamily="18" charset="0"/>
              </a:rPr>
              <a:t>The possibility of losing data, money, or privacy because of a security threat.</a:t>
            </a:r>
          </a:p>
          <a:p>
            <a:pPr>
              <a:lnSpc>
                <a:spcPct val="150000"/>
              </a:lnSpc>
              <a:buNone/>
            </a:pPr>
            <a:r>
              <a:rPr lang="en-IN" dirty="0">
                <a:latin typeface="Times New Roman" panose="02020603050405020304" pitchFamily="18" charset="0"/>
                <a:cs typeface="Times New Roman" panose="02020603050405020304" pitchFamily="18" charset="0"/>
              </a:rPr>
              <a:t>Examples:</a:t>
            </a:r>
          </a:p>
          <a:p>
            <a:pPr marL="34290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Weak passwords can lead to account hacking.</a:t>
            </a:r>
          </a:p>
          <a:p>
            <a:pPr marL="34290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Clicking suspicious links can expose personal information.</a:t>
            </a:r>
          </a:p>
          <a:p>
            <a:pPr marL="34290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Poor security can cause data theft or financial loss.</a:t>
            </a:r>
          </a:p>
        </p:txBody>
      </p:sp>
      <p:sp>
        <p:nvSpPr>
          <p:cNvPr id="11" name="TextBox 10">
            <a:extLst>
              <a:ext uri="{FF2B5EF4-FFF2-40B4-BE49-F238E27FC236}">
                <a16:creationId xmlns:a16="http://schemas.microsoft.com/office/drawing/2014/main" id="{F42EA3BA-6E5B-AE78-433E-5C49BE1306F2}"/>
              </a:ext>
            </a:extLst>
          </p:cNvPr>
          <p:cNvSpPr txBox="1"/>
          <p:nvPr/>
        </p:nvSpPr>
        <p:spPr>
          <a:xfrm>
            <a:off x="934974" y="5470663"/>
            <a:ext cx="11016233"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Example: </a:t>
            </a:r>
            <a:r>
              <a:rPr lang="en-IN" dirty="0">
                <a:latin typeface="Times New Roman" panose="02020603050405020304" pitchFamily="18" charset="0"/>
                <a:cs typeface="Times New Roman" panose="02020603050405020304" pitchFamily="18" charset="0"/>
              </a:rPr>
              <a:t>If a hacker steals a student's login password, they may access personal details and misuse the account.</a:t>
            </a:r>
          </a:p>
          <a:p>
            <a:endParaRPr lang="en-IN" dirty="0"/>
          </a:p>
        </p:txBody>
      </p:sp>
    </p:spTree>
    <p:extLst>
      <p:ext uri="{BB962C8B-B14F-4D97-AF65-F5344CB8AC3E}">
        <p14:creationId xmlns:p14="http://schemas.microsoft.com/office/powerpoint/2010/main" val="4147673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21093-DD75-566D-4C97-5FCF7CA7628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85F152F-E91F-69CC-B32B-24E8D14F1FD2}"/>
              </a:ext>
            </a:extLst>
          </p:cNvPr>
          <p:cNvSpPr/>
          <p:nvPr/>
        </p:nvSpPr>
        <p:spPr>
          <a:xfrm>
            <a:off x="393192" y="393192"/>
            <a:ext cx="11430000" cy="60258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 name="Picture 3">
            <a:extLst>
              <a:ext uri="{FF2B5EF4-FFF2-40B4-BE49-F238E27FC236}">
                <a16:creationId xmlns:a16="http://schemas.microsoft.com/office/drawing/2014/main" id="{965CDA82-20E8-2DC7-285B-3B2F10DC91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728" y="438912"/>
            <a:ext cx="1083607" cy="1000252"/>
          </a:xfrm>
          <a:prstGeom prst="rect">
            <a:avLst/>
          </a:prstGeom>
        </p:spPr>
      </p:pic>
      <p:pic>
        <p:nvPicPr>
          <p:cNvPr id="6" name="Picture 5">
            <a:extLst>
              <a:ext uri="{FF2B5EF4-FFF2-40B4-BE49-F238E27FC236}">
                <a16:creationId xmlns:a16="http://schemas.microsoft.com/office/drawing/2014/main" id="{A7BAED7C-2124-00F2-9317-E93F236CC8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2176" y="416051"/>
            <a:ext cx="1220768" cy="952987"/>
          </a:xfrm>
          <a:prstGeom prst="rect">
            <a:avLst/>
          </a:prstGeom>
        </p:spPr>
      </p:pic>
      <p:sp>
        <p:nvSpPr>
          <p:cNvPr id="3" name="TextBox 2">
            <a:extLst>
              <a:ext uri="{FF2B5EF4-FFF2-40B4-BE49-F238E27FC236}">
                <a16:creationId xmlns:a16="http://schemas.microsoft.com/office/drawing/2014/main" id="{E7D759B8-B53C-E952-F63A-41C80304F698}"/>
              </a:ext>
            </a:extLst>
          </p:cNvPr>
          <p:cNvSpPr txBox="1"/>
          <p:nvPr/>
        </p:nvSpPr>
        <p:spPr>
          <a:xfrm>
            <a:off x="4572000" y="531685"/>
            <a:ext cx="5376672" cy="984885"/>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Security Goals </a:t>
            </a:r>
          </a:p>
          <a:p>
            <a:endParaRPr lang="en-IN" dirty="0"/>
          </a:p>
        </p:txBody>
      </p:sp>
      <p:sp>
        <p:nvSpPr>
          <p:cNvPr id="5" name="TextBox 4">
            <a:extLst>
              <a:ext uri="{FF2B5EF4-FFF2-40B4-BE49-F238E27FC236}">
                <a16:creationId xmlns:a16="http://schemas.microsoft.com/office/drawing/2014/main" id="{B4F89665-3C36-A924-8516-F23F82ADBA79}"/>
              </a:ext>
            </a:extLst>
          </p:cNvPr>
          <p:cNvSpPr txBox="1"/>
          <p:nvPr/>
        </p:nvSpPr>
        <p:spPr>
          <a:xfrm>
            <a:off x="512064" y="1655063"/>
            <a:ext cx="8156448" cy="5028556"/>
          </a:xfrm>
          <a:prstGeom prst="rect">
            <a:avLst/>
          </a:prstGeom>
          <a:noFill/>
        </p:spPr>
        <p:txBody>
          <a:bodyPr wrap="square" rtlCol="0">
            <a:spAutoFit/>
          </a:bodyPr>
          <a:lstStyle/>
          <a:p>
            <a:pPr>
              <a:lnSpc>
                <a:spcPct val="150000"/>
              </a:lnSpc>
            </a:pPr>
            <a:r>
              <a:rPr lang="en-IN" dirty="0">
                <a:latin typeface="Times New Roman" panose="02020603050405020304" pitchFamily="18" charset="0"/>
                <a:cs typeface="Times New Roman" panose="02020603050405020304" pitchFamily="18" charset="0"/>
              </a:rPr>
              <a:t>The three main security goals are </a:t>
            </a:r>
            <a:r>
              <a:rPr lang="en-IN" b="1" dirty="0">
                <a:latin typeface="Times New Roman" panose="02020603050405020304" pitchFamily="18" charset="0"/>
                <a:cs typeface="Times New Roman" panose="02020603050405020304" pitchFamily="18" charset="0"/>
              </a:rPr>
              <a:t>Confidentiality, Integrity, and Availability (CIA</a:t>
            </a:r>
            <a:r>
              <a:rPr lang="en-IN" dirty="0">
                <a:latin typeface="Times New Roman" panose="02020603050405020304" pitchFamily="18" charset="0"/>
                <a:cs typeface="Times New Roman" panose="02020603050405020304" pitchFamily="18" charset="0"/>
              </a:rPr>
              <a:t>).</a:t>
            </a:r>
          </a:p>
          <a:p>
            <a:pPr>
              <a:lnSpc>
                <a:spcPct val="150000"/>
              </a:lnSpc>
            </a:pPr>
            <a:r>
              <a:rPr lang="en-IN" dirty="0">
                <a:latin typeface="Times New Roman" panose="02020603050405020304" pitchFamily="18" charset="0"/>
                <a:cs typeface="Times New Roman" panose="02020603050405020304" pitchFamily="18" charset="0"/>
              </a:rPr>
              <a:t>1. </a:t>
            </a:r>
            <a:r>
              <a:rPr lang="en-IN" b="1" dirty="0">
                <a:latin typeface="Times New Roman" panose="02020603050405020304" pitchFamily="18" charset="0"/>
                <a:cs typeface="Times New Roman" panose="02020603050405020304" pitchFamily="18" charset="0"/>
              </a:rPr>
              <a:t>Confidentiality</a:t>
            </a:r>
          </a:p>
          <a:p>
            <a:pPr>
              <a:lnSpc>
                <a:spcPct val="150000"/>
              </a:lnSpc>
            </a:pPr>
            <a:r>
              <a:rPr lang="en-IN" dirty="0">
                <a:latin typeface="Times New Roman" panose="02020603050405020304" pitchFamily="18" charset="0"/>
                <a:cs typeface="Times New Roman" panose="02020603050405020304" pitchFamily="18" charset="0"/>
              </a:rPr>
              <a:t>Information should be accessible only to authorized people.</a:t>
            </a:r>
          </a:p>
          <a:p>
            <a:pPr>
              <a:lnSpc>
                <a:spcPct val="150000"/>
              </a:lnSpc>
            </a:pPr>
            <a:r>
              <a:rPr lang="en-IN" dirty="0">
                <a:latin typeface="Times New Roman" panose="02020603050405020304" pitchFamily="18" charset="0"/>
                <a:cs typeface="Times New Roman" panose="02020603050405020304" pitchFamily="18" charset="0"/>
              </a:rPr>
              <a:t>Example: Only authorized students can view their personal records.</a:t>
            </a:r>
          </a:p>
          <a:p>
            <a:pPr>
              <a:lnSpc>
                <a:spcPct val="150000"/>
              </a:lnSpc>
            </a:pPr>
            <a:r>
              <a:rPr lang="en-IN" dirty="0">
                <a:latin typeface="Times New Roman" panose="02020603050405020304" pitchFamily="18" charset="0"/>
                <a:cs typeface="Times New Roman" panose="02020603050405020304" pitchFamily="18" charset="0"/>
              </a:rPr>
              <a:t>2. </a:t>
            </a:r>
            <a:r>
              <a:rPr lang="en-IN" b="1" dirty="0">
                <a:latin typeface="Times New Roman" panose="02020603050405020304" pitchFamily="18" charset="0"/>
                <a:cs typeface="Times New Roman" panose="02020603050405020304" pitchFamily="18" charset="0"/>
              </a:rPr>
              <a:t>Integrity</a:t>
            </a:r>
          </a:p>
          <a:p>
            <a:pPr>
              <a:lnSpc>
                <a:spcPct val="150000"/>
              </a:lnSpc>
            </a:pPr>
            <a:r>
              <a:rPr lang="en-IN" dirty="0">
                <a:latin typeface="Times New Roman" panose="02020603050405020304" pitchFamily="18" charset="0"/>
                <a:cs typeface="Times New Roman" panose="02020603050405020304" pitchFamily="18" charset="0"/>
              </a:rPr>
              <a:t>Information should remain accurate and unchanged by unauthorized people.</a:t>
            </a:r>
          </a:p>
          <a:p>
            <a:pPr>
              <a:lnSpc>
                <a:spcPct val="150000"/>
              </a:lnSpc>
            </a:pPr>
            <a:r>
              <a:rPr lang="en-IN" dirty="0">
                <a:latin typeface="Times New Roman" panose="02020603050405020304" pitchFamily="18" charset="0"/>
                <a:cs typeface="Times New Roman" panose="02020603050405020304" pitchFamily="18" charset="0"/>
              </a:rPr>
              <a:t>Example: Nobody should be able to change a student's marks without permission.</a:t>
            </a:r>
          </a:p>
          <a:p>
            <a:pPr>
              <a:lnSpc>
                <a:spcPct val="150000"/>
              </a:lnSpc>
            </a:pPr>
            <a:r>
              <a:rPr lang="en-IN" dirty="0">
                <a:latin typeface="Times New Roman" panose="02020603050405020304" pitchFamily="18" charset="0"/>
                <a:cs typeface="Times New Roman" panose="02020603050405020304" pitchFamily="18" charset="0"/>
              </a:rPr>
              <a:t>3. </a:t>
            </a:r>
            <a:r>
              <a:rPr lang="en-IN" b="1" dirty="0">
                <a:latin typeface="Times New Roman" panose="02020603050405020304" pitchFamily="18" charset="0"/>
                <a:cs typeface="Times New Roman" panose="02020603050405020304" pitchFamily="18" charset="0"/>
              </a:rPr>
              <a:t>Availability</a:t>
            </a:r>
          </a:p>
          <a:p>
            <a:pPr>
              <a:lnSpc>
                <a:spcPct val="150000"/>
              </a:lnSpc>
            </a:pPr>
            <a:r>
              <a:rPr lang="en-IN" dirty="0">
                <a:latin typeface="Times New Roman" panose="02020603050405020304" pitchFamily="18" charset="0"/>
                <a:cs typeface="Times New Roman" panose="02020603050405020304" pitchFamily="18" charset="0"/>
              </a:rPr>
              <a:t>Information and services should be accessible when needed.</a:t>
            </a:r>
          </a:p>
          <a:p>
            <a:pPr>
              <a:lnSpc>
                <a:spcPct val="150000"/>
              </a:lnSpc>
            </a:pPr>
            <a:r>
              <a:rPr lang="en-IN" dirty="0">
                <a:latin typeface="Times New Roman" panose="02020603050405020304" pitchFamily="18" charset="0"/>
                <a:cs typeface="Times New Roman" panose="02020603050405020304" pitchFamily="18" charset="0"/>
              </a:rPr>
              <a:t>Example: Students should be able to access the college website during exam registration.</a:t>
            </a:r>
          </a:p>
          <a:p>
            <a:pPr>
              <a:lnSpc>
                <a:spcPct val="150000"/>
              </a:lnSpc>
            </a:pPr>
            <a:endParaRPr lang="en-IN" dirty="0">
              <a:latin typeface="Times New Roman" panose="02020603050405020304" pitchFamily="18" charset="0"/>
              <a:cs typeface="Times New Roman" panose="02020603050405020304" pitchFamily="18" charset="0"/>
            </a:endParaRPr>
          </a:p>
        </p:txBody>
      </p:sp>
      <p:pic>
        <p:nvPicPr>
          <p:cNvPr id="13" name="Picture 12" descr="3 Principles of Infosec: The CIA Triad | Carbide">
            <a:extLst>
              <a:ext uri="{FF2B5EF4-FFF2-40B4-BE49-F238E27FC236}">
                <a16:creationId xmlns:a16="http://schemas.microsoft.com/office/drawing/2014/main" id="{B4F724ED-50AE-2030-AA92-15F053B45104}"/>
              </a:ext>
            </a:extLst>
          </p:cNvPr>
          <p:cNvPicPr>
            <a:picLocks noChangeAspect="1"/>
          </p:cNvPicPr>
          <p:nvPr/>
        </p:nvPicPr>
        <p:blipFill>
          <a:blip r:embed="rId4"/>
          <a:stretch>
            <a:fillRect/>
          </a:stretch>
        </p:blipFill>
        <p:spPr>
          <a:xfrm>
            <a:off x="8414556" y="1825762"/>
            <a:ext cx="3265380" cy="3989070"/>
          </a:xfrm>
          <a:prstGeom prst="rect">
            <a:avLst/>
          </a:prstGeom>
        </p:spPr>
      </p:pic>
    </p:spTree>
    <p:extLst>
      <p:ext uri="{BB962C8B-B14F-4D97-AF65-F5344CB8AC3E}">
        <p14:creationId xmlns:p14="http://schemas.microsoft.com/office/powerpoint/2010/main" val="4002131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1B39C-7565-4EB2-5C75-F147C43B88F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6235AF0-65EF-F0FF-54F5-98B5C0E5B668}"/>
              </a:ext>
            </a:extLst>
          </p:cNvPr>
          <p:cNvSpPr/>
          <p:nvPr/>
        </p:nvSpPr>
        <p:spPr>
          <a:xfrm>
            <a:off x="393192" y="393192"/>
            <a:ext cx="11430000" cy="60258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E0FD38CA-EC27-A688-C68D-BAD6D98D4A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728" y="438912"/>
            <a:ext cx="1083607" cy="1000252"/>
          </a:xfrm>
          <a:prstGeom prst="rect">
            <a:avLst/>
          </a:prstGeom>
        </p:spPr>
      </p:pic>
      <p:pic>
        <p:nvPicPr>
          <p:cNvPr id="6" name="Picture 5">
            <a:extLst>
              <a:ext uri="{FF2B5EF4-FFF2-40B4-BE49-F238E27FC236}">
                <a16:creationId xmlns:a16="http://schemas.microsoft.com/office/drawing/2014/main" id="{8C0CC4FA-8336-9393-40C7-D762F05B78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2176" y="416051"/>
            <a:ext cx="1220768" cy="952987"/>
          </a:xfrm>
          <a:prstGeom prst="rect">
            <a:avLst/>
          </a:prstGeom>
        </p:spPr>
      </p:pic>
      <p:sp>
        <p:nvSpPr>
          <p:cNvPr id="7" name="TextBox 6">
            <a:extLst>
              <a:ext uri="{FF2B5EF4-FFF2-40B4-BE49-F238E27FC236}">
                <a16:creationId xmlns:a16="http://schemas.microsoft.com/office/drawing/2014/main" id="{40AF95C8-FCE7-EDC2-E5AB-2E63BCD7AEEC}"/>
              </a:ext>
            </a:extLst>
          </p:cNvPr>
          <p:cNvSpPr txBox="1"/>
          <p:nvPr/>
        </p:nvSpPr>
        <p:spPr>
          <a:xfrm>
            <a:off x="3566160" y="561086"/>
            <a:ext cx="6062472" cy="984885"/>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Prevention &amp; Conclusion</a:t>
            </a:r>
            <a:r>
              <a:rPr lang="en-IN" dirty="0">
                <a:latin typeface="Times New Roman" panose="02020603050405020304" pitchFamily="18" charset="0"/>
                <a:cs typeface="Times New Roman" panose="02020603050405020304" pitchFamily="18" charset="0"/>
              </a:rPr>
              <a:t> </a:t>
            </a:r>
          </a:p>
          <a:p>
            <a:endParaRPr lang="en-IN" dirty="0"/>
          </a:p>
        </p:txBody>
      </p:sp>
      <p:sp>
        <p:nvSpPr>
          <p:cNvPr id="8" name="TextBox 7">
            <a:extLst>
              <a:ext uri="{FF2B5EF4-FFF2-40B4-BE49-F238E27FC236}">
                <a16:creationId xmlns:a16="http://schemas.microsoft.com/office/drawing/2014/main" id="{1A7007DD-9889-35AA-817B-E742CD55F04A}"/>
              </a:ext>
            </a:extLst>
          </p:cNvPr>
          <p:cNvSpPr txBox="1"/>
          <p:nvPr/>
        </p:nvSpPr>
        <p:spPr>
          <a:xfrm>
            <a:off x="731519" y="1569193"/>
            <a:ext cx="6839713" cy="4613058"/>
          </a:xfrm>
          <a:prstGeom prst="rect">
            <a:avLst/>
          </a:prstGeom>
          <a:noFill/>
        </p:spPr>
        <p:txBody>
          <a:bodyPr wrap="square" rtlCol="0">
            <a:spAutoFit/>
          </a:bodyPr>
          <a:lstStyle/>
          <a:p>
            <a:pPr algn="just">
              <a:lnSpc>
                <a:spcPct val="150000"/>
              </a:lnSpc>
            </a:pPr>
            <a:r>
              <a:rPr lang="en-IN" b="1" dirty="0">
                <a:latin typeface="Times New Roman" panose="02020603050405020304" pitchFamily="18" charset="0"/>
                <a:cs typeface="Times New Roman" panose="02020603050405020304" pitchFamily="18" charset="0"/>
              </a:rPr>
              <a:t>How to Prevent Security Attacks</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 strong passwords and multi-factor authentication.</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Encrypt sensitive information.</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Install antivirus software and update systems regularly.</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Avoid suspicious emails and links.</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Back up important data regularly.</a:t>
            </a:r>
          </a:p>
          <a:p>
            <a:pPr algn="just">
              <a:lnSpc>
                <a:spcPct val="150000"/>
              </a:lnSpc>
            </a:pPr>
            <a:r>
              <a:rPr lang="en-IN" b="1" dirty="0">
                <a:latin typeface="Times New Roman" panose="02020603050405020304" pitchFamily="18" charset="0"/>
                <a:cs typeface="Times New Roman" panose="02020603050405020304" pitchFamily="18" charset="0"/>
              </a:rPr>
              <a:t>Conclusion:</a:t>
            </a:r>
          </a:p>
          <a:p>
            <a:pPr algn="just">
              <a:lnSpc>
                <a:spcPct val="150000"/>
              </a:lnSpc>
            </a:pPr>
            <a:r>
              <a:rPr lang="en-IN" dirty="0">
                <a:latin typeface="Times New Roman" panose="02020603050405020304" pitchFamily="18" charset="0"/>
                <a:cs typeface="Times New Roman" panose="02020603050405020304" pitchFamily="18" charset="0"/>
              </a:rPr>
              <a:t>Security attacks, threats, and risks can affect the confidentiality, integrity, and availability of information. By using cryptography, strong passwords, encryption, and proper security practices, we can protect data and reduce security risks.</a:t>
            </a:r>
          </a:p>
        </p:txBody>
      </p:sp>
      <p:pic>
        <p:nvPicPr>
          <p:cNvPr id="10" name="Picture 9">
            <a:extLst>
              <a:ext uri="{FF2B5EF4-FFF2-40B4-BE49-F238E27FC236}">
                <a16:creationId xmlns:a16="http://schemas.microsoft.com/office/drawing/2014/main" id="{FFC6A8E6-B42E-C851-ECA8-6A0E05D08394}"/>
              </a:ext>
            </a:extLst>
          </p:cNvPr>
          <p:cNvPicPr>
            <a:picLocks noChangeAspect="1"/>
          </p:cNvPicPr>
          <p:nvPr/>
        </p:nvPicPr>
        <p:blipFill>
          <a:blip r:embed="rId4"/>
          <a:srcRect r="34859"/>
          <a:stretch>
            <a:fillRect/>
          </a:stretch>
        </p:blipFill>
        <p:spPr>
          <a:xfrm>
            <a:off x="7680959" y="1713864"/>
            <a:ext cx="3968497" cy="4336901"/>
          </a:xfrm>
          <a:prstGeom prst="rect">
            <a:avLst/>
          </a:prstGeom>
        </p:spPr>
      </p:pic>
    </p:spTree>
    <p:extLst>
      <p:ext uri="{BB962C8B-B14F-4D97-AF65-F5344CB8AC3E}">
        <p14:creationId xmlns:p14="http://schemas.microsoft.com/office/powerpoint/2010/main" val="1035938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B8431-F756-EE45-2FD4-E98223124AE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7985BDE-F5D7-CE01-E5D0-C80AEFB6F1C4}"/>
              </a:ext>
            </a:extLst>
          </p:cNvPr>
          <p:cNvSpPr/>
          <p:nvPr/>
        </p:nvSpPr>
        <p:spPr>
          <a:xfrm>
            <a:off x="393192" y="393192"/>
            <a:ext cx="11430000" cy="60258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2DF6C965-F1C5-7AC6-57BE-5C9ADE322B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728" y="438912"/>
            <a:ext cx="1083607" cy="1000252"/>
          </a:xfrm>
          <a:prstGeom prst="rect">
            <a:avLst/>
          </a:prstGeom>
        </p:spPr>
      </p:pic>
      <p:pic>
        <p:nvPicPr>
          <p:cNvPr id="6" name="Picture 5">
            <a:extLst>
              <a:ext uri="{FF2B5EF4-FFF2-40B4-BE49-F238E27FC236}">
                <a16:creationId xmlns:a16="http://schemas.microsoft.com/office/drawing/2014/main" id="{1137AC7F-857C-2E98-6FB0-CA20A9861C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2176" y="416051"/>
            <a:ext cx="1220768" cy="952987"/>
          </a:xfrm>
          <a:prstGeom prst="rect">
            <a:avLst/>
          </a:prstGeom>
        </p:spPr>
      </p:pic>
      <p:sp>
        <p:nvSpPr>
          <p:cNvPr id="3" name="TextBox 2">
            <a:extLst>
              <a:ext uri="{FF2B5EF4-FFF2-40B4-BE49-F238E27FC236}">
                <a16:creationId xmlns:a16="http://schemas.microsoft.com/office/drawing/2014/main" id="{7489B4F3-CCBC-C5A2-5019-2E708B5A0B19}"/>
              </a:ext>
            </a:extLst>
          </p:cNvPr>
          <p:cNvSpPr txBox="1"/>
          <p:nvPr/>
        </p:nvSpPr>
        <p:spPr>
          <a:xfrm>
            <a:off x="4370832" y="2525075"/>
            <a:ext cx="7991856" cy="1015663"/>
          </a:xfrm>
          <a:prstGeom prst="rect">
            <a:avLst/>
          </a:prstGeom>
          <a:noFill/>
        </p:spPr>
        <p:txBody>
          <a:bodyPr wrap="square" rtlCol="0">
            <a:spAutoFit/>
          </a:bodyPr>
          <a:lstStyle/>
          <a:p>
            <a:r>
              <a:rPr lang="en-IN" sz="6000" b="1" dirty="0">
                <a:latin typeface="Vladimir Script" panose="03050402040407070305" pitchFamily="66" charset="0"/>
                <a:cs typeface="Times New Roman" panose="02020603050405020304" pitchFamily="18" charset="0"/>
              </a:rPr>
              <a:t>Thank you </a:t>
            </a:r>
          </a:p>
        </p:txBody>
      </p:sp>
    </p:spTree>
    <p:extLst>
      <p:ext uri="{BB962C8B-B14F-4D97-AF65-F5344CB8AC3E}">
        <p14:creationId xmlns:p14="http://schemas.microsoft.com/office/powerpoint/2010/main" val="27340893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TotalTime>
  <Words>527</Words>
  <Application>Microsoft Office PowerPoint</Application>
  <PresentationFormat>Widescreen</PresentationFormat>
  <Paragraphs>71</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Aptos Display</vt:lpstr>
      <vt:lpstr>Arial</vt:lpstr>
      <vt:lpstr>Times New Roman</vt:lpstr>
      <vt:lpstr>Vladimir Script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Reshma S</dc:creator>
  <cp:lastModifiedBy>Reshma S</cp:lastModifiedBy>
  <cp:revision>1</cp:revision>
  <dcterms:created xsi:type="dcterms:W3CDTF">2026-10-12T10:13:14Z</dcterms:created>
  <dcterms:modified xsi:type="dcterms:W3CDTF">2026-10-12T11:11:19Z</dcterms:modified>
</cp:coreProperties>
</file>